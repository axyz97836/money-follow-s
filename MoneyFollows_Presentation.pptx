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4023360" cy="4023360"/>
          </a:xfrm>
          <a:prstGeom prst="ellipse">
            <a:avLst/>
          </a:prstGeom>
          <a:solidFill>
            <a:srgbClr val="1D3B60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5212080"/>
            <a:ext cx="3474720" cy="3474720"/>
          </a:xfrm>
          <a:prstGeom prst="ellipse">
            <a:avLst/>
          </a:prstGeom>
          <a:solidFill>
            <a:srgbClr val="1D3B60"/>
          </a:solidFill>
          <a:ln/>
        </p:spPr>
      </p:sp>
      <p:sp>
        <p:nvSpPr>
          <p:cNvPr id="4" name="Shape 2"/>
          <p:cNvSpPr/>
          <p:nvPr/>
        </p:nvSpPr>
        <p:spPr>
          <a:xfrm>
            <a:off x="4494276" y="502920"/>
            <a:ext cx="3200400" cy="384048"/>
          </a:xfrm>
          <a:prstGeom prst="roundRect">
            <a:avLst>
              <a:gd name="adj" fmla="val 50000"/>
            </a:avLst>
          </a:prstGeom>
          <a:ln w="12700">
            <a:solidFill>
              <a:srgbClr val="C997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94276" y="502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HACKDAY 1.0  •  TECH FOR A BETTER TOMORROW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00116" y="1051560"/>
            <a:ext cx="1188720" cy="1188720"/>
          </a:xfrm>
          <a:prstGeom prst="ellipse">
            <a:avLst/>
          </a:prstGeom>
          <a:solidFill>
            <a:srgbClr val="C9971F"/>
          </a:solidFill>
          <a:ln/>
        </p:spPr>
      </p:sp>
      <p:pic>
        <p:nvPicPr>
          <p:cNvPr id="7" name="Image 0" descr="/home/claude/moneyfollows_ppt/icons/Fi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070" y="137251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22476" y="24231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MoneyFollows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1522476" y="3273552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C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Government Scheme Discovery &amp; Eligibility Assistant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436876" y="38221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situation in plain language — MoneyFollows finds the government schemes you may be eligible for.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80076" y="4553712"/>
            <a:ext cx="1828800" cy="0"/>
          </a:xfrm>
          <a:prstGeom prst="line">
            <a:avLst/>
          </a:prstGeom>
          <a:noFill/>
          <a:ln w="15875">
            <a:solidFill>
              <a:srgbClr val="1D3B6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22476" y="4681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66848" y="5102352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D3B60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68016" y="5308092"/>
            <a:ext cx="457200" cy="457200"/>
          </a:xfrm>
          <a:prstGeom prst="ellipse">
            <a:avLst/>
          </a:prstGeom>
          <a:solidFill>
            <a:srgbClr val="0C1E33"/>
          </a:solidFill>
          <a:ln/>
        </p:spPr>
      </p:sp>
      <p:pic>
        <p:nvPicPr>
          <p:cNvPr id="15" name="Image 1" descr="/home/claude/moneyfollows_ppt/icons/FiUse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60" y="5431536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89808" y="52486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Kumar Singh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489808" y="5577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33008" y="5102352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D3B60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34176" y="5308092"/>
            <a:ext cx="457200" cy="457200"/>
          </a:xfrm>
          <a:prstGeom prst="ellipse">
            <a:avLst/>
          </a:prstGeom>
          <a:solidFill>
            <a:srgbClr val="0C1E33"/>
          </a:solidFill>
          <a:ln/>
        </p:spPr>
      </p:sp>
      <p:pic>
        <p:nvPicPr>
          <p:cNvPr id="20" name="Image 2" descr="/home/claude/moneyfollows_ppt/icons/FiUse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620" y="5431536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55968" y="52486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Kumar Singh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7055968" y="5577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millions of citizens miss out on benefits they've already earned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34540"/>
            <a:ext cx="777240" cy="7772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7" name="Image 0" descr="/home/claude/moneyfollows_ppt/icons/FiMap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95" y="22443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96596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Is Scattered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350008"/>
            <a:ext cx="93570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are spread across hundreds of .gov.in websites, with no single source of truth.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543300"/>
            <a:ext cx="777240" cy="7772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2" name="Image 1" descr="/home/claude/moneyfollows_ppt/icons/FiHelp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5" y="3753155"/>
            <a:ext cx="357530" cy="3575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47472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Is Confusing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3858768"/>
            <a:ext cx="93570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criteria written in dense, bureaucratic language make it hard to know if you qualify.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5052060"/>
            <a:ext cx="777240" cy="7772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7" name="Image 2" descr="/home/claude/moneyfollows_ppt/icons/FiX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5" y="526191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983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 Fall Short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5367528"/>
            <a:ext cx="93570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search results return outdated lists instead of personalized, actionable picks.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MoneyFollows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0817352" y="65105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plain-language question to a verified list of schemes — in four steps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86588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09548" y="2148840"/>
            <a:ext cx="868680" cy="86868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7" name="Image 0" descr="/home/claude/moneyfollows_ppt/icons/FiMessage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2383384"/>
            <a:ext cx="399593" cy="3995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6588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Situation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86588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MoneyFollows about yourself in plain English or Hindi.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101188" y="24460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421228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44188" y="2148840"/>
            <a:ext cx="868680" cy="86868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3" name="Image 1" descr="/home/claude/moneyfollows_ppt/icons/Fi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31" y="2383384"/>
            <a:ext cx="399593" cy="3995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1228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Search Official Sources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421228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fetches live scheme data from .gov.in and .nic.in sites.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935828" y="24460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255868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078828" y="2148840"/>
            <a:ext cx="868680" cy="86868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9" name="Image 2" descr="/home/claude/moneyfollows_ppt/icons/Fi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371" y="2383384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55868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 Eligibility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255868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extracts criteria; a deterministic engine checks them.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770468" y="24460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9090508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913468" y="2148840"/>
            <a:ext cx="868680" cy="86868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25" name="Image 3" descr="/home/claude/moneyfollows_ppt/icons/Fi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011" y="2383384"/>
            <a:ext cx="399593" cy="3995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90508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 Schemes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9090508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personalized, cited results with a clear eligibility status.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52628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4663440"/>
            <a:ext cx="777240" cy="777240"/>
          </a:xfrm>
          <a:prstGeom prst="ellipse">
            <a:avLst/>
          </a:prstGeom>
          <a:solidFill>
            <a:srgbClr val="C9971F"/>
          </a:solidFill>
          <a:ln/>
        </p:spPr>
      </p:sp>
      <p:pic>
        <p:nvPicPr>
          <p:cNvPr id="30" name="Image 4" descr="/home/claude/moneyfollows_ppt/icons/Fi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95" y="4873295"/>
            <a:ext cx="357530" cy="3575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783080" y="4663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Trust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1783080" y="4992624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decisions come from a deterministic, rule-based engine — not LLM guessing — so every match is explainable and consistent.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MoneyFollows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10817352" y="65105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that make scheme discovery fast, trustworthy, and accessible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0616" y="19842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7" name="Image 0" descr="/home/claude/moneyfollows_ppt/icons/FiMessage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120036"/>
            <a:ext cx="231343" cy="231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0616" y="265176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10616" y="308152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or Hindi — no forms, no jargon.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8368" y="17830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9536" y="19842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2" name="Image 1" descr="/home/claude/moneyfollows_ppt/icons/Fi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0036"/>
            <a:ext cx="231343" cy="231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9536" y="265176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Discovery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99536" y="308152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scheme data from official .gov.in &amp; .nic.in sources.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7288" y="17830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8456" y="19842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7" name="Image 2" descr="/home/claude/moneyfollows_ppt/icons/FiCheckSqu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2120036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88456" y="265176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Eligibility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388456" y="308152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checks Age, Income, State, Category &amp; more.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76208" y="17830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77376" y="19842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22" name="Image 3" descr="/home/claude/moneyfollows_ppt/icons/FiMessageSqu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164" y="2120036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77376" y="265176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Chat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177376" y="308152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conversations to drill deeper into any scheme.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09448" y="38862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10616" y="408736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27" name="Image 4" descr="/home/claude/moneyfollows_ppt/icons/Fi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223156"/>
            <a:ext cx="231343" cy="23134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0616" y="475488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810616" y="518464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&amp; Hindi support across interface and AI replies.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398368" y="38862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599536" y="408736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32" name="Image 5" descr="/home/claude/moneyfollows_ppt/icons/FiMo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324" y="4223156"/>
            <a:ext cx="231343" cy="23134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99536" y="475488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3599536" y="518464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System-preference aware theme with a manual toggle.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187288" y="38862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88456" y="408736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37" name="Image 6" descr="/home/claude/moneyfollows_ppt/icons/FiLin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4223156"/>
            <a:ext cx="231343" cy="23134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88456" y="475488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6388456" y="518464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scheme links back to its official source.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976208" y="38862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177376" y="408736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42" name="Image 7" descr="/home/claude/moneyfollows_ppt/icons/FiTag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3164" y="4223156"/>
            <a:ext cx="231343" cy="231343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177376" y="475488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Status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9177376" y="518464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labels: Likely, Possibly, Needs Info, Not Eligible.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MoneyFollows</a:t>
            </a:r>
            <a:endParaRPr lang="en-US" sz="850" dirty="0"/>
          </a:p>
        </p:txBody>
      </p:sp>
      <p:sp>
        <p:nvSpPr>
          <p:cNvPr id="46" name="Text 36"/>
          <p:cNvSpPr txBox="1"/>
          <p:nvPr/>
        </p:nvSpPr>
        <p:spPr>
          <a:xfrm>
            <a:off x="10817352" y="65105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orchestrator pipeline connects the frontend to live government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9631375" cy="685800"/>
          </a:xfrm>
          <a:prstGeom prst="roundRect">
            <a:avLst>
              <a:gd name="adj" fmla="val 12000"/>
            </a:avLst>
          </a:prstGeom>
          <a:solidFill>
            <a:srgbClr val="132A4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8516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moneyfollows_ppt/icons/Fi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197510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884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React 19 + Vite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  •   Lucide Icons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80076" y="2450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REST API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670048"/>
            <a:ext cx="10911535" cy="2194560"/>
          </a:xfrm>
          <a:prstGeom prst="roundRect">
            <a:avLst>
              <a:gd name="adj" fmla="val 3750"/>
            </a:avLst>
          </a:prstGeom>
          <a:solidFill>
            <a:srgbClr val="EAF0F6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14400" y="27614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PIPELINE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98094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 —  Python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44091" y="35844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644091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160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Understanding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876702" y="3707892"/>
            <a:ext cx="137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743554" y="35844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743554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013862" y="4160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976165" y="3707892"/>
            <a:ext cx="137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843016" y="35844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43016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113325" y="4160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Extraction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075627" y="3707892"/>
            <a:ext cx="137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942478" y="35844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942478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12787" y="4160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175090" y="3707892"/>
            <a:ext cx="137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0041941" y="3584448"/>
            <a:ext cx="502920" cy="50292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041941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312250" y="4160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180076" y="49011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78028" y="5138928"/>
            <a:ext cx="3429000" cy="1188720"/>
          </a:xfrm>
          <a:prstGeom prst="roundRect">
            <a:avLst>
              <a:gd name="adj" fmla="val 6923"/>
            </a:avLst>
          </a:prstGeom>
          <a:solidFill>
            <a:srgbClr val="132A4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60908" y="5303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1" descr="/home/claude/moneyfollows_ppt/icons/FiCpu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76" y="5417088"/>
            <a:ext cx="193487" cy="193487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391260" y="528523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934060" y="56692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(default)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381348" y="5138928"/>
            <a:ext cx="3429000" cy="1188720"/>
          </a:xfrm>
          <a:prstGeom prst="roundRect">
            <a:avLst>
              <a:gd name="adj" fmla="val 6923"/>
            </a:avLst>
          </a:prstGeom>
          <a:solidFill>
            <a:srgbClr val="132A4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564228" y="5303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2" descr="/home/claude/moneyfollows_ppt/icons/Fi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796" y="5417088"/>
            <a:ext cx="193487" cy="193487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094580" y="528523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Provider</a:t>
            </a:r>
            <a:endParaRPr lang="en-US" sz="1250" dirty="0"/>
          </a:p>
        </p:txBody>
      </p:sp>
      <p:sp>
        <p:nvSpPr>
          <p:cNvPr id="42" name="Text 37"/>
          <p:cNvSpPr txBox="1"/>
          <p:nvPr/>
        </p:nvSpPr>
        <p:spPr>
          <a:xfrm>
            <a:off x="4637380" y="56692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(default)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8084668" y="5138928"/>
            <a:ext cx="3429000" cy="1188720"/>
          </a:xfrm>
          <a:prstGeom prst="roundRect">
            <a:avLst>
              <a:gd name="adj" fmla="val 6923"/>
            </a:avLst>
          </a:prstGeom>
          <a:solidFill>
            <a:srgbClr val="132A46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8267548" y="5303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3" descr="/home/claude/moneyfollows_ppt/icons/FiCheckSquar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116" y="5417088"/>
            <a:ext cx="193487" cy="193487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8797900" y="528523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</a:t>
            </a:r>
            <a:endParaRPr lang="en-US" sz="1250" dirty="0"/>
          </a:p>
        </p:txBody>
      </p:sp>
      <p:sp>
        <p:nvSpPr>
          <p:cNvPr id="47" name="Text 41"/>
          <p:cNvSpPr txBox="1"/>
          <p:nvPr/>
        </p:nvSpPr>
        <p:spPr>
          <a:xfrm>
            <a:off x="8340700" y="56692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Income · State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Category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· Occupation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MoneyFollows</a:t>
            </a:r>
            <a:endParaRPr lang="en-US" sz="850" dirty="0"/>
          </a:p>
        </p:txBody>
      </p:sp>
      <p:sp>
        <p:nvSpPr>
          <p:cNvPr id="49" name="Text 43"/>
          <p:cNvSpPr txBox="1"/>
          <p:nvPr/>
        </p:nvSpPr>
        <p:spPr>
          <a:xfrm>
            <a:off x="10817352" y="65105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API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languages, frameworks, and endpoints powering MoneyFollows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486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069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· Vite 8 · Tailwind CSS v4 · Lucide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· FastAPI · Pydantic · HTTPX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(default) · OpenAI · OpenRouter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DuckDuckGo (default) · Tavily · Serper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central government schemes (local dataset)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· Docker Compose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Reference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2194560"/>
            <a:ext cx="5330952" cy="868680"/>
          </a:xfrm>
          <a:prstGeom prst="roundRect">
            <a:avLst>
              <a:gd name="adj" fmla="val 9474"/>
            </a:avLst>
          </a:prstGeom>
          <a:solidFill>
            <a:srgbClr val="EAF0F6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0528" y="235915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2F9E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10528" y="2359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313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2724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&amp; service status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3246120"/>
            <a:ext cx="5330952" cy="868680"/>
          </a:xfrm>
          <a:prstGeom prst="roundRect">
            <a:avLst>
              <a:gd name="adj" fmla="val 9474"/>
            </a:avLst>
          </a:prstGeom>
          <a:solidFill>
            <a:srgbClr val="EAF0F6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0528" y="341071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10528" y="341071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364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/api/search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510528" y="37764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scheme discovery &amp; eligibility pipeline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9360" y="4297680"/>
            <a:ext cx="5330952" cy="868680"/>
          </a:xfrm>
          <a:prstGeom prst="roundRect">
            <a:avLst>
              <a:gd name="adj" fmla="val 9474"/>
            </a:avLst>
          </a:prstGeom>
          <a:solidFill>
            <a:srgbClr val="EAF0F6"/>
          </a:solidFill>
          <a:ln w="9525">
            <a:solidFill>
              <a:srgbClr val="CBD9E7"/>
            </a:solidFill>
            <a:prstDash val="solid"/>
          </a:ln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10528" y="446227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10528" y="44622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4416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510528" y="48280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follow-up conversation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MoneyFollows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0817352" y="65105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657600" cy="3657600"/>
          </a:xfrm>
          <a:prstGeom prst="ellipse">
            <a:avLst/>
          </a:prstGeom>
          <a:solidFill>
            <a:srgbClr val="1D3B6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3474720" cy="3474720"/>
          </a:xfrm>
          <a:prstGeom prst="ellipse">
            <a:avLst/>
          </a:prstGeom>
          <a:solidFill>
            <a:srgbClr val="1D3B6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522476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65276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Every Citizen Find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Support They've Already Earned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1988820"/>
            <a:ext cx="457200" cy="457200"/>
          </a:xfrm>
          <a:prstGeom prst="ellipse">
            <a:avLst/>
          </a:prstGeom>
          <a:solidFill>
            <a:srgbClr val="1D3B60"/>
          </a:solidFill>
          <a:ln/>
        </p:spPr>
      </p:sp>
      <p:pic>
        <p:nvPicPr>
          <p:cNvPr id="7" name="Image 0" descr="/home/claude/moneyfollows_ppt/icons/FiGlob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244" y="21122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8880" y="1965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access for every citizen, in English or Hindi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828800" y="2628900"/>
            <a:ext cx="457200" cy="457200"/>
          </a:xfrm>
          <a:prstGeom prst="ellipse">
            <a:avLst/>
          </a:prstGeom>
          <a:solidFill>
            <a:srgbClr val="1D3B60"/>
          </a:solidFill>
          <a:ln/>
        </p:spPr>
      </p:sp>
      <p:pic>
        <p:nvPicPr>
          <p:cNvPr id="10" name="Image 1" descr="/home/claude/moneyfollows_ppt/icons/FiShie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275234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68880" y="2606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hallucination-free eligibility decisions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828800" y="3268980"/>
            <a:ext cx="457200" cy="457200"/>
          </a:xfrm>
          <a:prstGeom prst="ellipse">
            <a:avLst/>
          </a:prstGeom>
          <a:solidFill>
            <a:srgbClr val="1D3B60"/>
          </a:solidFill>
          <a:ln/>
        </p:spPr>
      </p:sp>
      <p:pic>
        <p:nvPicPr>
          <p:cNvPr id="13" name="Image 2" descr="/home/claude/moneyfollows_ppt/icons/Fi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244" y="339242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468880" y="32461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verified schemes, always linked to their official source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14400" y="4023360"/>
            <a:ext cx="10362895" cy="1051560"/>
          </a:xfrm>
          <a:prstGeom prst="roundRect">
            <a:avLst>
              <a:gd name="adj" fmla="val 7826"/>
            </a:avLst>
          </a:prstGeom>
          <a:solidFill>
            <a:srgbClr val="1D3B60"/>
          </a:solidFill>
          <a:ln/>
          <a:effectLst>
            <a:outerShdw sx="100000" sy="100000" kx="0" ky="0" algn="bl" rotWithShape="0" blurRad="88900" dist="25400" dir="5400000">
              <a:srgbClr val="0C1E33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170432" y="4297680"/>
            <a:ext cx="502920" cy="502920"/>
          </a:xfrm>
          <a:prstGeom prst="ellipse">
            <a:avLst/>
          </a:prstGeom>
          <a:solidFill>
            <a:srgbClr val="0C1E33"/>
          </a:solidFill>
          <a:ln/>
        </p:spPr>
      </p:sp>
      <p:pic>
        <p:nvPicPr>
          <p:cNvPr id="17" name="Image 3" descr="/home/claude/moneyfollows_ppt/icons/FiAlert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20" y="443346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74520" y="4169664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Note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874520" y="4462272"/>
            <a:ext cx="9052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MoneyFollows is an informational tool. It does not apply for schemes on your behalf, store personal data persistently, or guarantee eligibility — always verify with official sources.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522476" y="52852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C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love for Hackday 1.0 — Tech for a Better Tomorrow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522476" y="56509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KUMAR SINGH   ·   DHRUV KUMAR SINGH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2026-09-20T11:37:20Z</dcterms:created>
  <dcterms:modified xsi:type="dcterms:W3CDTF">2026-09-20T11:37:20Z</dcterms:modified>
</cp:coreProperties>
</file>